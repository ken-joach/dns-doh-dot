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Oswald Medium"/>
      <p:regular r:id="rId22"/>
      <p:bold r:id="rId23"/>
    </p:embeddedFont>
    <p:embeddedFont>
      <p:font typeface="Average"/>
      <p:regular r:id="rId24"/>
    </p:embeddedFont>
    <p:embeddedFont>
      <p:font typeface="Oswald SemiBold"/>
      <p:regular r:id="rId25"/>
      <p:bold r:id="rId26"/>
    </p:embeddedFont>
    <p:embeddedFont>
      <p:font typeface="Oswa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34DC47-6909-4254-95C5-C39076840823}">
  <a:tblStyle styleId="{1634DC47-6909-4254-95C5-C390768408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OswaldMedium-regular.fntdata"/><Relationship Id="rId21" Type="http://schemas.openxmlformats.org/officeDocument/2006/relationships/slide" Target="slides/slide15.xml"/><Relationship Id="rId24" Type="http://schemas.openxmlformats.org/officeDocument/2006/relationships/font" Target="fonts/Average-regular.fntdata"/><Relationship Id="rId23" Type="http://schemas.openxmlformats.org/officeDocument/2006/relationships/font" Target="fonts/Oswald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swaldSemiBold-bold.fntdata"/><Relationship Id="rId25" Type="http://schemas.openxmlformats.org/officeDocument/2006/relationships/font" Target="fonts/OswaldSemiBold-regular.fntdata"/><Relationship Id="rId28" Type="http://schemas.openxmlformats.org/officeDocument/2006/relationships/font" Target="fonts/Oswald-bold.fntdata"/><Relationship Id="rId27" Type="http://schemas.openxmlformats.org/officeDocument/2006/relationships/font" Target="fonts/Oswa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fe70bcf1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fe70bcf1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e70bcf1a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e70bcf1a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fe70bcf1a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fe70bcf1a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fe70bcf1a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fe70bcf1a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fe70bcf1a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fe70bcf1a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fe70bcf1a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fe70bcf1a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fe70bcf1a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fe70bcf1a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fe70bcf1a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fe70bcf1a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fe70bcf1a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fe70bcf1a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fe70bcf1a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fe70bcf1a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fe70bcf1a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fe70bcf1a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fe70bcf1a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fe70bcf1a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fe70bcf1a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fe70bcf1a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fe70bcf1a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fe70bcf1a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Speed v. Security: A Comparison of DNS, DoT, and DoH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Kendra Joachim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Computer Networks Final Project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DNS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383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Domain Name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“phonebook” of the Internet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DNS resolvers translate human-readable domain names into machine-readable IP addresses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Usually run in plaintext over UDP, but that is not the only way</a:t>
            </a:r>
            <a:endParaRPr b="1"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3090" r="3834" t="0"/>
          <a:stretch/>
        </p:blipFill>
        <p:spPr>
          <a:xfrm>
            <a:off x="4356550" y="0"/>
            <a:ext cx="47874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248500" y="307350"/>
            <a:ext cx="2693400" cy="444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225300" y="307350"/>
            <a:ext cx="2693400" cy="444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6202100" y="307350"/>
            <a:ext cx="2693400" cy="444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248500" y="307350"/>
            <a:ext cx="269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SemiBold"/>
                <a:ea typeface="Oswald SemiBold"/>
                <a:cs typeface="Oswald SemiBold"/>
                <a:sym typeface="Oswald SemiBold"/>
              </a:rPr>
              <a:t>Standard DNS</a:t>
            </a:r>
            <a:endParaRPr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3225300" y="307350"/>
            <a:ext cx="269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SemiBold"/>
                <a:ea typeface="Oswald SemiBold"/>
                <a:cs typeface="Oswald SemiBold"/>
                <a:sym typeface="Oswald SemiBold"/>
              </a:rPr>
              <a:t>DNS over TLS</a:t>
            </a:r>
            <a:endParaRPr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6202100" y="307350"/>
            <a:ext cx="269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SemiBold"/>
                <a:ea typeface="Oswald SemiBold"/>
                <a:cs typeface="Oswald SemiBold"/>
                <a:sym typeface="Oswald SemiBold"/>
              </a:rPr>
              <a:t>DNS over HTTPS</a:t>
            </a:r>
            <a:endParaRPr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cxnSp>
        <p:nvCxnSpPr>
          <p:cNvPr id="78" name="Google Shape;78;p15"/>
          <p:cNvCxnSpPr/>
          <p:nvPr/>
        </p:nvCxnSpPr>
        <p:spPr>
          <a:xfrm>
            <a:off x="6321350" y="880050"/>
            <a:ext cx="2454900" cy="99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5"/>
          <p:cNvCxnSpPr/>
          <p:nvPr/>
        </p:nvCxnSpPr>
        <p:spPr>
          <a:xfrm>
            <a:off x="3344550" y="880050"/>
            <a:ext cx="2454900" cy="99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5"/>
          <p:cNvCxnSpPr/>
          <p:nvPr/>
        </p:nvCxnSpPr>
        <p:spPr>
          <a:xfrm>
            <a:off x="367750" y="880050"/>
            <a:ext cx="2454900" cy="99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6202100" y="960325"/>
            <a:ext cx="2693400" cy="37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DNS queries and responses are encrypted with TLS and sent via HTTP.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TCP with TLS over Port 443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Encrypted and hidden among other HTTP traffic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248500" y="960325"/>
            <a:ext cx="2693400" cy="37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DNS queries and responses are sent in plaintext via UDP.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UDP over port 53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No encryption; vulnerable to attacks and monitoring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225300" y="960325"/>
            <a:ext cx="2693400" cy="37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DNS using the same protocol (Transport Layer Security) that HTTPS websites use to encrypt and authenticate communications.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TCP with TLS over Port 853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Encrypted on dedicated DoT port; can be monitored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DoT and DoH have better security, why use Standard DNS?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the default on many devices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Claims to be faster than DoT and DoH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Better for low bandwidth due to smaller response size without the encryption overhead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275450" y="2158350"/>
            <a:ext cx="4045200" cy="82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to Answer</a:t>
            </a:r>
            <a:endParaRPr/>
          </a:p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How much faster is Standard DNS?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How much added bandwidth do the other options carry?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152475"/>
            <a:ext cx="8520600" cy="15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Done in Python on Visual Studio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various Python libraries (dns.resolver, httpx, subprocess) to send DNS queries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</a:t>
            </a:r>
            <a:r>
              <a:rPr lang="en"/>
              <a:t> latency and amount of bytes in the responses over 50 trials for each variation</a:t>
            </a:r>
            <a:endParaRPr/>
          </a:p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257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3144450"/>
            <a:ext cx="85206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Only performed on A records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 records are the most common type of records and are the ones that resolve domain names to IP addresses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DoT only simulates the handshake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Could only be ran “cold”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Cannot test response size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248500" y="652200"/>
            <a:ext cx="2693400" cy="337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3225300" y="652200"/>
            <a:ext cx="2693400" cy="337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6202100" y="652200"/>
            <a:ext cx="2693400" cy="337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1" name="Google Shape;111;p19"/>
          <p:cNvSpPr txBox="1"/>
          <p:nvPr>
            <p:ph type="title"/>
          </p:nvPr>
        </p:nvSpPr>
        <p:spPr>
          <a:xfrm>
            <a:off x="49700" y="79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Variations to Test (DNS and DoH)</a:t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48500" y="652350"/>
            <a:ext cx="269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SemiBold"/>
                <a:ea typeface="Oswald SemiBold"/>
                <a:cs typeface="Oswald SemiBold"/>
                <a:sym typeface="Oswald SemiBold"/>
              </a:rPr>
              <a:t>“Cold”</a:t>
            </a:r>
            <a:endParaRPr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3" name="Google Shape;113;p19"/>
          <p:cNvSpPr txBox="1"/>
          <p:nvPr>
            <p:ph type="title"/>
          </p:nvPr>
        </p:nvSpPr>
        <p:spPr>
          <a:xfrm>
            <a:off x="3225300" y="652350"/>
            <a:ext cx="269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SemiBold"/>
                <a:ea typeface="Oswald SemiBold"/>
                <a:cs typeface="Oswald SemiBold"/>
                <a:sym typeface="Oswald SemiBold"/>
              </a:rPr>
              <a:t>“Warm”</a:t>
            </a:r>
            <a:endParaRPr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4" name="Google Shape;114;p19"/>
          <p:cNvSpPr txBox="1"/>
          <p:nvPr>
            <p:ph type="title"/>
          </p:nvPr>
        </p:nvSpPr>
        <p:spPr>
          <a:xfrm>
            <a:off x="6202100" y="652200"/>
            <a:ext cx="269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SemiBold"/>
                <a:ea typeface="Oswald SemiBold"/>
                <a:cs typeface="Oswald SemiBold"/>
                <a:sym typeface="Oswald SemiBold"/>
              </a:rPr>
              <a:t>“Real World”</a:t>
            </a:r>
            <a:endParaRPr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cxnSp>
        <p:nvCxnSpPr>
          <p:cNvPr id="115" name="Google Shape;115;p19"/>
          <p:cNvCxnSpPr/>
          <p:nvPr/>
        </p:nvCxnSpPr>
        <p:spPr>
          <a:xfrm>
            <a:off x="367750" y="1215150"/>
            <a:ext cx="2454900" cy="99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9"/>
          <p:cNvCxnSpPr/>
          <p:nvPr/>
        </p:nvCxnSpPr>
        <p:spPr>
          <a:xfrm>
            <a:off x="3344550" y="1215150"/>
            <a:ext cx="2454900" cy="99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9"/>
          <p:cNvCxnSpPr/>
          <p:nvPr/>
        </p:nvCxnSpPr>
        <p:spPr>
          <a:xfrm>
            <a:off x="6321350" y="1224900"/>
            <a:ext cx="2454900" cy="99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9"/>
          <p:cNvSpPr txBox="1"/>
          <p:nvPr>
            <p:ph idx="4294967295" type="body"/>
          </p:nvPr>
        </p:nvSpPr>
        <p:spPr>
          <a:xfrm>
            <a:off x="248500" y="1215150"/>
            <a:ext cx="2693400" cy="28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swald"/>
              <a:buChar char="●"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No cache; e</a:t>
            </a: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ach query is sent as if it is a brand new query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swald"/>
              <a:buChar char="●"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Query used was “example.com”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swald"/>
              <a:buChar char="●"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Similar to worst case scenario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9" name="Google Shape;119;p19"/>
          <p:cNvSpPr txBox="1"/>
          <p:nvPr>
            <p:ph idx="4294967295" type="body"/>
          </p:nvPr>
        </p:nvSpPr>
        <p:spPr>
          <a:xfrm>
            <a:off x="3225300" y="1215150"/>
            <a:ext cx="2693400" cy="28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swald"/>
              <a:buChar char="●"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Cache; established connection besides the first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swald"/>
              <a:buChar char="●"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Query used was “example.com”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swald"/>
              <a:buChar char="●"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Similar to best case scenario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19"/>
          <p:cNvSpPr txBox="1"/>
          <p:nvPr>
            <p:ph idx="4294967295" type="body"/>
          </p:nvPr>
        </p:nvSpPr>
        <p:spPr>
          <a:xfrm>
            <a:off x="6202100" y="1215150"/>
            <a:ext cx="2693400" cy="28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swald"/>
              <a:buChar char="●"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Cache; established connection besides the first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swald"/>
              <a:buChar char="●"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Used a variety of urls with different domains (.com, .edu, .uk)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swald"/>
              <a:buChar char="●"/>
            </a:pPr>
            <a:r>
              <a:rPr lang="en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Simulate what queries would actually be like</a:t>
            </a:r>
            <a:endParaRPr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248500" y="4492475"/>
            <a:ext cx="4005600" cy="572700"/>
          </a:xfrm>
          <a:prstGeom prst="rect">
            <a:avLst/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Cloudflare | 1.1.1.1</a:t>
            </a:r>
            <a:endParaRPr sz="2200"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4889900" y="4492475"/>
            <a:ext cx="4005600" cy="572700"/>
          </a:xfrm>
          <a:prstGeom prst="rect">
            <a:avLst/>
          </a:prstGeom>
          <a:solidFill>
            <a:srgbClr val="BEA65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rPr>
              <a:t>Google | 8.8.8.8</a:t>
            </a:r>
            <a:endParaRPr sz="2200"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193800" y="4123175"/>
            <a:ext cx="572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Resolvers/Endpoints (DNS/DoH/DoT)</a:t>
            </a:r>
            <a:endParaRPr sz="12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0" title="Screenshot 2025-12-11 at 11.53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5350"/>
            <a:ext cx="8839199" cy="358161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DNS Latency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DoH Latency</a:t>
            </a:r>
            <a:endParaRPr/>
          </a:p>
        </p:txBody>
      </p:sp>
      <p:pic>
        <p:nvPicPr>
          <p:cNvPr id="135" name="Google Shape;135;p21" title="Screenshot 2025-12-11 at 11.54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20150"/>
            <a:ext cx="8839199" cy="3581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DoT Latency</a:t>
            </a:r>
            <a:endParaRPr/>
          </a:p>
        </p:txBody>
      </p:sp>
      <p:pic>
        <p:nvPicPr>
          <p:cNvPr id="141" name="Google Shape;141;p22" title="Screenshot 2025-12-11 at 11.55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00250"/>
            <a:ext cx="8839199" cy="3581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0" y="4538400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Comparison (Cloudflare)</a:t>
            </a:r>
            <a:endParaRPr/>
          </a:p>
        </p:txBody>
      </p:sp>
      <p:pic>
        <p:nvPicPr>
          <p:cNvPr id="147" name="Google Shape;147;p23" title="Screenshot 2025-12-11 at 11.58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00" y="168500"/>
            <a:ext cx="8924000" cy="436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Averages</a:t>
            </a:r>
            <a:endParaRPr/>
          </a:p>
        </p:txBody>
      </p:sp>
      <p:pic>
        <p:nvPicPr>
          <p:cNvPr id="153" name="Google Shape;153;p24" title="Screenshot 2025-12-12 at 12.00.0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51200"/>
            <a:ext cx="8839200" cy="27097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24"/>
          <p:cNvGraphicFramePr/>
          <p:nvPr/>
        </p:nvGraphicFramePr>
        <p:xfrm>
          <a:off x="4003800" y="335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{1634DC47-6909-4254-95C5-C39076840823}</a:tableStyleId>
              </a:tblPr>
              <a:tblGrid>
                <a:gridCol w="1198500"/>
                <a:gridCol w="1198500"/>
                <a:gridCol w="1198500"/>
                <a:gridCol w="119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DNS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DoH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DoT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Cold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27.81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114.27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76.98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Warm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28.27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25.90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Real World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36.36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39.57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Response Bytes Averages</a:t>
            </a:r>
            <a:endParaRPr/>
          </a:p>
        </p:txBody>
      </p:sp>
      <p:graphicFrame>
        <p:nvGraphicFramePr>
          <p:cNvPr id="160" name="Google Shape;160;p25"/>
          <p:cNvGraphicFramePr/>
          <p:nvPr/>
        </p:nvGraphicFramePr>
        <p:xfrm>
          <a:off x="5405225" y="4043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{1634DC47-6909-4254-95C5-C39076840823}</a:tableStyleId>
              </a:tblPr>
              <a:tblGrid>
                <a:gridCol w="629050"/>
                <a:gridCol w="2697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DNS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106.4 bytes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DoH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6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439.3 bytes</a:t>
                      </a:r>
                      <a:endParaRPr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61" name="Google Shape;161;p25" title="full_rb_b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58250"/>
            <a:ext cx="8839204" cy="2835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Overall, Standard DNS over UDP is faster and has a smaller number of response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with DoH being faster in the “warm” scenario and only </a:t>
            </a:r>
            <a:r>
              <a:rPr lang="en"/>
              <a:t>being</a:t>
            </a:r>
            <a:r>
              <a:rPr lang="en"/>
              <a:t> 3ms slower in the “real world” scenario, DoH still performs well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the added security benefits of DoH over DNS, DoH seems like the better choice of the two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Though unable to test DoT on the more likely scenarios (warm and real world), it appears that its performance is likely similar to that of DoH if not a little better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Thus, due to the added security benefits of DoH and DoT, they should be implemented when possible</a:t>
            </a:r>
            <a:endParaRPr b="1"/>
          </a:p>
        </p:txBody>
      </p:sp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choose DoT or DoH?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</a:t>
            </a:r>
            <a:r>
              <a:rPr lang="en" sz="2000"/>
              <a:t>difference</a:t>
            </a:r>
            <a:r>
              <a:rPr lang="en" sz="2000"/>
              <a:t> lies in what Port is being used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DoT has a dedicated port, so anyone with network visibility can see DoT traffic </a:t>
            </a:r>
            <a:r>
              <a:rPr lang="en" sz="2000"/>
              <a:t>coming</a:t>
            </a:r>
            <a:r>
              <a:rPr lang="en" sz="2000"/>
              <a:t> and going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Good for network security; bad for privacy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DoH queries and responses are </a:t>
            </a:r>
            <a:r>
              <a:rPr lang="en" sz="2000"/>
              <a:t>camouflaged within other HTTP traffic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Good for privacy; bad for network security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